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2"/>
  </p:notesMasterIdLst>
  <p:sldIdLst>
    <p:sldId id="668" r:id="rId4"/>
    <p:sldId id="669" r:id="rId5"/>
    <p:sldId id="673" r:id="rId6"/>
    <p:sldId id="750" r:id="rId7"/>
    <p:sldId id="720" r:id="rId8"/>
    <p:sldId id="722" r:id="rId9"/>
    <p:sldId id="723" r:id="rId10"/>
    <p:sldId id="724" r:id="rId11"/>
    <p:sldId id="725" r:id="rId12"/>
    <p:sldId id="721" r:id="rId13"/>
    <p:sldId id="715" r:id="rId14"/>
    <p:sldId id="729" r:id="rId15"/>
    <p:sldId id="716" r:id="rId16"/>
    <p:sldId id="683" r:id="rId17"/>
    <p:sldId id="730" r:id="rId18"/>
    <p:sldId id="731" r:id="rId19"/>
    <p:sldId id="732" r:id="rId20"/>
    <p:sldId id="733" r:id="rId21"/>
    <p:sldId id="626" r:id="rId22"/>
    <p:sldId id="737" r:id="rId23"/>
    <p:sldId id="734" r:id="rId24"/>
    <p:sldId id="738" r:id="rId25"/>
    <p:sldId id="735" r:id="rId26"/>
    <p:sldId id="739" r:id="rId27"/>
    <p:sldId id="740" r:id="rId28"/>
    <p:sldId id="736" r:id="rId29"/>
    <p:sldId id="741" r:id="rId30"/>
    <p:sldId id="689" r:id="rId31"/>
    <p:sldId id="743" r:id="rId32"/>
    <p:sldId id="746" r:id="rId33"/>
    <p:sldId id="633" r:id="rId34"/>
    <p:sldId id="742" r:id="rId35"/>
    <p:sldId id="639" r:id="rId36"/>
    <p:sldId id="747" r:id="rId37"/>
    <p:sldId id="744" r:id="rId38"/>
    <p:sldId id="748" r:id="rId39"/>
    <p:sldId id="704" r:id="rId40"/>
    <p:sldId id="745" r:id="rId41"/>
    <p:sldId id="749" r:id="rId42"/>
    <p:sldId id="644" r:id="rId43"/>
    <p:sldId id="645" r:id="rId44"/>
    <p:sldId id="649" r:id="rId45"/>
    <p:sldId id="647" r:id="rId46"/>
    <p:sldId id="650" r:id="rId47"/>
    <p:sldId id="653" r:id="rId48"/>
    <p:sldId id="666" r:id="rId49"/>
    <p:sldId id="660" r:id="rId50"/>
    <p:sldId id="661" r:id="rId51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39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1F7"/>
    <a:srgbClr val="349CF6"/>
    <a:srgbClr val="2A7AED"/>
    <a:srgbClr val="DEF0FA"/>
    <a:srgbClr val="0064D2"/>
    <a:srgbClr val="575757"/>
    <a:srgbClr val="0070C0"/>
    <a:srgbClr val="5F5F5F"/>
    <a:srgbClr val="A4DAFB"/>
    <a:srgbClr val="609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21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732" y="108"/>
      </p:cViewPr>
      <p:guideLst>
        <p:guide orient="horz" pos="2059"/>
        <p:guide pos="392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6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notesMaster" Target="notesMasters/notes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tags" Target="../tags/tag63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63715"/>
          </a:xfrm>
          <a:prstGeom prst="rect">
            <a:avLst/>
          </a:prstGeom>
        </p:spPr>
      </p:pic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1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1" Type="http://schemas.openxmlformats.org/officeDocument/2006/relationships/slide" Target="slide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" Target="slide46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" Target="slide46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1" Type="http://schemas.openxmlformats.org/officeDocument/2006/relationships/slide" Target="slide4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229359" y="1548435"/>
            <a:ext cx="10341317" cy="732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主要内容：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99796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4973" y="2310020"/>
            <a:ext cx="9501809" cy="3297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fontAlgn="auto" hangingPunct="0">
              <a:lnSpc>
                <a:spcPts val="5000"/>
              </a:lnSpc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串行通信的原理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，熟识</a:t>
            </a:r>
            <a:r>
              <a:rPr lang="en-US" altLang="zh-CN" sz="2400" b="1" dirty="0">
                <a:sym typeface="+mn-ea"/>
              </a:rPr>
              <a:t>CH340G</a:t>
            </a:r>
            <a:r>
              <a:rPr lang="zh-CN" altLang="en-US" sz="2400" b="1" dirty="0">
                <a:sym typeface="+mn-ea"/>
              </a:rPr>
              <a:t>串口芯片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RS-232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接口，掌握应用其实现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通信转换的方法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fontAlgn="auto" hangingPunct="0">
              <a:lnSpc>
                <a:spcPts val="5000"/>
              </a:lnSpc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掌握上位机与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CC2530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串口通信建立和配置方法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fontAlgn="auto" hangingPunct="0">
              <a:lnSpc>
                <a:spcPts val="5000"/>
              </a:lnSpc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掌握串口通信中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数据收发的实现及典型应用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的设计方法，完成上位机下达的指令、控制交通灯模式进行切换的功能开发。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867507" y="1863606"/>
            <a:ext cx="106987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交通灯本地应用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Zigbee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上的按键控制交通灯功能切换，操作局限于指挥现场，不够合理。智能交通灯系统可与上位机通信联网，结合摄像头等监控设备的支持，由上位机根据观察到的路况迅速下达指令，控制交通灯灵活进行功能切换。本任务要求系统经串口接收远程主机下达的指令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时，切换至正常指挥功能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(Routine)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；下达指令“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时，切换至限行功能（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Forbid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99796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0938" y="4787062"/>
            <a:ext cx="107090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fontAlgn="auto" hangingPunct="0"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建立主机与交通灯硬件系统间的串行通信，搭建交通灯工作与控制系统；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fontAlgn="auto" hangingPunct="0"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完成指令发送与交通灯状态检测功能模块；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fontAlgn="auto" hangingPunct="0"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建立面向主机远程串行控制的交通灯管理程序；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fontAlgn="auto" hangingPunct="0"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烧写测试程序，实现交通灯式工作及控制方式的检测。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60938" y="1082000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任务描述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7507" y="3965477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任务要求：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1"/>
          <p:cNvSpPr txBox="1"/>
          <p:nvPr/>
        </p:nvSpPr>
        <p:spPr>
          <a:xfrm>
            <a:off x="1577490" y="5325309"/>
            <a:ext cx="2547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 b="1">
                <a:solidFill>
                  <a:srgbClr val="2A7AED"/>
                </a:solidFill>
              </a:rPr>
              <a:t>CC2530</a:t>
            </a:r>
            <a:r>
              <a:rPr lang="zh-CN" altLang="en-US" sz="2400" b="1">
                <a:solidFill>
                  <a:srgbClr val="2A7AED"/>
                </a:solidFill>
              </a:rPr>
              <a:t>与外设间</a:t>
            </a:r>
            <a:endParaRPr lang="en-US" altLang="zh-CN" sz="2400" b="1">
              <a:solidFill>
                <a:srgbClr val="2A7AED"/>
              </a:solidFill>
            </a:endParaRPr>
          </a:p>
          <a:p>
            <a:pPr lvl="0" algn="ctr"/>
            <a:r>
              <a:rPr lang="zh-CN" altLang="en-US" sz="2400" b="1">
                <a:solidFill>
                  <a:srgbClr val="2A7AED"/>
                </a:solidFill>
              </a:rPr>
              <a:t>的串行通信</a:t>
            </a:r>
            <a:endParaRPr lang="zh-CN" altLang="zh-CN" sz="2400" b="1">
              <a:solidFill>
                <a:srgbClr val="2A7AED"/>
              </a:solidFill>
            </a:endParaRPr>
          </a:p>
        </p:txBody>
      </p:sp>
      <p:sp>
        <p:nvSpPr>
          <p:cNvPr id="58" name="文本框1"/>
          <p:cNvSpPr txBox="1"/>
          <p:nvPr/>
        </p:nvSpPr>
        <p:spPr>
          <a:xfrm>
            <a:off x="4313283" y="1666098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/>
              <a:t>CC2530</a:t>
            </a:r>
            <a:r>
              <a:rPr lang="zh-CN" altLang="en-US" sz="2400"/>
              <a:t>与上位机的连接与信号转换</a:t>
            </a:r>
            <a:endParaRPr lang="zh-CN" altLang="zh-CN" sz="2400"/>
          </a:p>
        </p:txBody>
      </p:sp>
      <p:grpSp>
        <p:nvGrpSpPr>
          <p:cNvPr id="2" name="组合 1"/>
          <p:cNvGrpSpPr/>
          <p:nvPr/>
        </p:nvGrpSpPr>
        <p:grpSpPr>
          <a:xfrm>
            <a:off x="1738011" y="2247637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38A1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06683" y="3052087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197297" y="443603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知识储备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8013912" y="5210026"/>
            <a:ext cx="3163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</a:rPr>
              <a:t>CC2530</a:t>
            </a:r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串口相关寄存</a:t>
            </a:r>
            <a:endParaRPr lang="en-US" altLang="zh-CN" sz="24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器及串行通信配置</a:t>
            </a:r>
            <a:endParaRPr lang="zh-CN" altLang="zh-CN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586022" y="2111170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6828" y="1007373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  <p:pic>
        <p:nvPicPr>
          <p:cNvPr id="4" name="图片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37"/>
          <a:stretch>
            <a:fillRect/>
          </a:stretch>
        </p:blipFill>
        <p:spPr>
          <a:xfrm>
            <a:off x="1090618" y="1530593"/>
            <a:ext cx="3139456" cy="2584938"/>
          </a:xfrm>
          <a:prstGeom prst="rect">
            <a:avLst/>
          </a:prstGeom>
          <a:noFill/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4"/>
          <a:stretch>
            <a:fillRect/>
          </a:stretch>
        </p:blipFill>
        <p:spPr>
          <a:xfrm>
            <a:off x="1090618" y="4115531"/>
            <a:ext cx="3139456" cy="2356338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320822" y="6471869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1-4-1  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并行通信和串行通信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04338" y="1674784"/>
            <a:ext cx="55157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u="sng"/>
              <a:t>并行通信</a:t>
            </a:r>
            <a:r>
              <a:rPr lang="zh-CN" altLang="en-US" sz="2400"/>
              <a:t>各位数据同时传送、传输速度快、效率高，但需要的数据线较多、成本高、干扰大、可靠性差，且一般适用于短距离通信，多用于计算机内部各部件之间的数据交换。</a:t>
            </a:r>
            <a:endParaRPr lang="en-US" altLang="zh-CN" sz="2400"/>
          </a:p>
          <a:p>
            <a:r>
              <a:rPr lang="zh-CN" altLang="en-US" sz="2400"/>
              <a:t> </a:t>
            </a:r>
            <a:endParaRPr lang="en-US" altLang="zh-CN" sz="2400"/>
          </a:p>
          <a:p>
            <a:endParaRPr lang="zh-CN" altLang="en-US" sz="2400"/>
          </a:p>
          <a:p>
            <a:r>
              <a:rPr lang="zh-CN" altLang="en-US" sz="2400" b="1" u="sng"/>
              <a:t>串行通信</a:t>
            </a:r>
            <a:r>
              <a:rPr lang="zh-CN" altLang="en-US" sz="2400"/>
              <a:t>需要的数据线少，成本低，但传输速度慢，效率低，特别适用于主机与主机、主机与外设之间的远距离通信。</a:t>
            </a:r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6828" y="1007373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  <p:sp>
        <p:nvSpPr>
          <p:cNvPr id="9" name="矩形 8"/>
          <p:cNvSpPr/>
          <p:nvPr/>
        </p:nvSpPr>
        <p:spPr>
          <a:xfrm>
            <a:off x="1143012" y="2296951"/>
            <a:ext cx="10023219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+mj-ea"/>
                <a:ea typeface="+mj-ea"/>
              </a:rPr>
              <a:t>串行通信又分为同步串行通信和异步串行通信。</a:t>
            </a:r>
            <a:endParaRPr lang="en-US" altLang="zh-CN" sz="2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+mj-ea"/>
                <a:ea typeface="+mj-ea"/>
              </a:rPr>
              <a:t>CC2530</a:t>
            </a:r>
            <a:r>
              <a:rPr lang="zh-CN" altLang="zh-CN" sz="2800" dirty="0">
                <a:latin typeface="+mj-ea"/>
                <a:ea typeface="+mj-ea"/>
              </a:rPr>
              <a:t>提供</a:t>
            </a:r>
            <a:r>
              <a:rPr lang="en-US" altLang="zh-CN" sz="2800" dirty="0">
                <a:latin typeface="+mj-ea"/>
                <a:ea typeface="+mj-ea"/>
              </a:rPr>
              <a:t>USART0</a:t>
            </a:r>
            <a:r>
              <a:rPr lang="zh-CN" altLang="zh-CN" sz="2800" dirty="0">
                <a:latin typeface="+mj-ea"/>
                <a:ea typeface="+mj-ea"/>
              </a:rPr>
              <a:t>和</a:t>
            </a:r>
            <a:r>
              <a:rPr lang="en-US" altLang="zh-CN" sz="2800" dirty="0">
                <a:latin typeface="+mj-ea"/>
                <a:ea typeface="+mj-ea"/>
              </a:rPr>
              <a:t>USART1</a:t>
            </a:r>
            <a:r>
              <a:rPr lang="zh-CN" altLang="zh-CN" sz="2800" dirty="0">
                <a:latin typeface="+mj-ea"/>
                <a:ea typeface="+mj-ea"/>
              </a:rPr>
              <a:t>两个串行通信接口，</a:t>
            </a:r>
            <a:r>
              <a:rPr lang="zh-CN" altLang="en-US" sz="2800" dirty="0">
                <a:latin typeface="+mj-ea"/>
                <a:ea typeface="+mj-ea"/>
              </a:rPr>
              <a:t>可</a:t>
            </a:r>
            <a:r>
              <a:rPr lang="zh-CN" altLang="zh-CN" sz="2800" dirty="0">
                <a:latin typeface="+mj-ea"/>
                <a:ea typeface="+mj-ea"/>
              </a:rPr>
              <a:t>运行于同步</a:t>
            </a:r>
            <a:r>
              <a:rPr lang="en-US" altLang="zh-CN" sz="2800" dirty="0">
                <a:latin typeface="+mj-ea"/>
                <a:ea typeface="+mj-ea"/>
              </a:rPr>
              <a:t>SPI</a:t>
            </a:r>
            <a:r>
              <a:rPr lang="zh-CN" altLang="zh-CN" sz="2800" dirty="0">
                <a:latin typeface="+mj-ea"/>
                <a:ea typeface="+mj-ea"/>
              </a:rPr>
              <a:t>模式或异步</a:t>
            </a:r>
            <a:r>
              <a:rPr lang="en-US" altLang="zh-CN" sz="2800" dirty="0">
                <a:latin typeface="+mj-ea"/>
                <a:ea typeface="+mj-ea"/>
              </a:rPr>
              <a:t>UART</a:t>
            </a:r>
            <a:r>
              <a:rPr lang="zh-CN" altLang="zh-CN" sz="2800" dirty="0">
                <a:latin typeface="+mj-ea"/>
                <a:ea typeface="+mj-ea"/>
              </a:rPr>
              <a:t>模式。</a:t>
            </a:r>
            <a:endParaRPr lang="zh-CN" altLang="zh-CN" sz="28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2792" y="1830237"/>
            <a:ext cx="2906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/>
              <a:t>①同步SPI模式串行通信</a:t>
            </a:r>
            <a:endParaRPr lang="zh-CN" altLang="en-US" sz="2000"/>
          </a:p>
        </p:txBody>
      </p:sp>
      <p:pic>
        <p:nvPicPr>
          <p:cNvPr id="6" name="图片 5" descr="D:\项目1图\spi3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10"/>
          <a:stretch>
            <a:fillRect/>
          </a:stretch>
        </p:blipFill>
        <p:spPr>
          <a:xfrm>
            <a:off x="808831" y="2257439"/>
            <a:ext cx="4290559" cy="15026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121346" y="4029746"/>
            <a:ext cx="303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1-4-2   SPI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工作原理示意图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12185" y="1926221"/>
            <a:ext cx="49238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SPI串行外围设备接口，</a:t>
            </a:r>
            <a:r>
              <a:rPr lang="zh-CN" altLang="en-US" sz="2000" b="1" dirty="0"/>
              <a:t>使MCU与各种外围设备通信息</a:t>
            </a:r>
            <a:r>
              <a:rPr lang="zh-CN" altLang="en-US" sz="2000" dirty="0"/>
              <a:t>，主要应用在 </a:t>
            </a:r>
            <a:r>
              <a:rPr lang="zh-CN" altLang="en-US" sz="2000" b="1" dirty="0"/>
              <a:t>EEPROM、FLASH、实时时钟、AD转换器、数字信号处理器和数字信号解码器</a:t>
            </a:r>
            <a:r>
              <a:rPr lang="zh-CN" altLang="en-US" sz="2000" dirty="0"/>
              <a:t>之间。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SPI是一种全双工高速连续串行传送数据的同步通信总线，只占用芯片管脚上</a:t>
            </a:r>
            <a:r>
              <a:rPr lang="zh-CN" altLang="en-US" sz="2000" b="1" dirty="0"/>
              <a:t>四根线</a:t>
            </a:r>
            <a:r>
              <a:rPr lang="zh-CN" altLang="en-US" sz="2000" dirty="0"/>
              <a:t>，</a:t>
            </a:r>
            <a:r>
              <a:rPr lang="zh-CN" altLang="en-US" sz="2000" b="1" dirty="0"/>
              <a:t>节省PCB空间</a:t>
            </a:r>
            <a:r>
              <a:rPr lang="zh-CN" altLang="en-US" sz="2000" dirty="0"/>
              <a:t>，</a:t>
            </a:r>
            <a:r>
              <a:rPr lang="zh-CN" altLang="en-US" sz="2000" b="1" dirty="0"/>
              <a:t>简单易用</a:t>
            </a:r>
            <a:r>
              <a:rPr lang="zh-CN" altLang="en-US" sz="2000" dirty="0"/>
              <a:t>，越来越多的芯片集成了这种通信协议。</a:t>
            </a:r>
            <a:endParaRPr lang="zh-CN" altLang="en-US" sz="2000" dirty="0"/>
          </a:p>
        </p:txBody>
      </p:sp>
      <p:pic>
        <p:nvPicPr>
          <p:cNvPr id="10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52" y="2030292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52" y="3590280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/>
        </p:nvSpPr>
        <p:spPr>
          <a:xfrm>
            <a:off x="896828" y="1007373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2792" y="1830237"/>
            <a:ext cx="2906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/>
              <a:t>①同步SPI模式串行通信</a:t>
            </a:r>
            <a:endParaRPr lang="zh-CN" altLang="en-US" sz="2000"/>
          </a:p>
        </p:txBody>
      </p:sp>
      <p:pic>
        <p:nvPicPr>
          <p:cNvPr id="6" name="图片 5" descr="D:\项目1图\spi3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10"/>
          <a:stretch>
            <a:fillRect/>
          </a:stretch>
        </p:blipFill>
        <p:spPr>
          <a:xfrm>
            <a:off x="808831" y="2257439"/>
            <a:ext cx="4290559" cy="15026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121346" y="4029746"/>
            <a:ext cx="303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1-4-2   SPI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工作原理示意图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325" y="2041092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951" y="3026397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6284070" y="1961883"/>
            <a:ext cx="5265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latin typeface="+mj-ea"/>
                <a:ea typeface="+mj-ea"/>
              </a:rPr>
              <a:t>串行同步通信的帧</a:t>
            </a:r>
            <a:r>
              <a:rPr lang="zh-CN" altLang="en-US" sz="2000">
                <a:latin typeface="+mj-ea"/>
                <a:ea typeface="+mj-ea"/>
              </a:rPr>
              <a:t>包括</a:t>
            </a:r>
            <a:r>
              <a:rPr lang="zh-CN" altLang="en-US" sz="2000" b="1">
                <a:latin typeface="+mj-ea"/>
                <a:ea typeface="+mj-ea"/>
              </a:rPr>
              <a:t>同步字符、数据块和校验字符</a:t>
            </a:r>
            <a:endParaRPr lang="en-US" altLang="zh-CN" sz="2000">
              <a:latin typeface="+mj-ea"/>
              <a:ea typeface="+mj-ea"/>
            </a:endParaRPr>
          </a:p>
          <a:p>
            <a:endParaRPr lang="en-US" altLang="zh-CN" sz="200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64199" y="4393182"/>
            <a:ext cx="53666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 kern="100">
                <a:latin typeface="+mj-ea"/>
                <a:ea typeface="+mj-ea"/>
              </a:rPr>
              <a:t>同步通信传输效率高，可用于点对多点，但要求收</a:t>
            </a:r>
            <a:r>
              <a:rPr lang="zh-CN" altLang="en-US" sz="2000" kern="100">
                <a:latin typeface="+mj-ea"/>
                <a:ea typeface="+mj-ea"/>
              </a:rPr>
              <a:t>发双</a:t>
            </a:r>
            <a:r>
              <a:rPr lang="zh-CN" altLang="zh-CN" sz="2000" kern="100">
                <a:latin typeface="+mj-ea"/>
                <a:ea typeface="+mj-ea"/>
              </a:rPr>
              <a:t>方的时钟严格同步，对硬件结构要求高。</a:t>
            </a:r>
            <a:endParaRPr lang="zh-CN" altLang="zh-CN" sz="2000" kern="100">
              <a:effectLst/>
              <a:latin typeface="+mj-ea"/>
              <a:ea typeface="+mj-ea"/>
            </a:endParaRPr>
          </a:p>
        </p:txBody>
      </p:sp>
      <p:pic>
        <p:nvPicPr>
          <p:cNvPr id="13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326" y="4340611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6345874" y="2977546"/>
            <a:ext cx="52032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接收设备持续对线路采样，在接收到的字符与同步字符比对成功后才将其后的数据块加以存储。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96828" y="1007373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792" y="2255667"/>
            <a:ext cx="6163459" cy="21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861659" y="911479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  <p:sp>
        <p:nvSpPr>
          <p:cNvPr id="2" name="矩形 1"/>
          <p:cNvSpPr/>
          <p:nvPr/>
        </p:nvSpPr>
        <p:spPr>
          <a:xfrm>
            <a:off x="1252792" y="1830237"/>
            <a:ext cx="2162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/>
              <a:t>②异步</a:t>
            </a:r>
            <a:r>
              <a:rPr lang="en-US" altLang="zh-CN" sz="2000"/>
              <a:t>UART</a:t>
            </a:r>
            <a:r>
              <a:rPr lang="zh-CN" altLang="en-US" sz="2000"/>
              <a:t>模式</a:t>
            </a:r>
            <a:endParaRPr lang="zh-CN" altLang="en-US" sz="2000"/>
          </a:p>
        </p:txBody>
      </p:sp>
      <p:sp>
        <p:nvSpPr>
          <p:cNvPr id="4" name="矩形 3"/>
          <p:cNvSpPr/>
          <p:nvPr/>
        </p:nvSpPr>
        <p:spPr>
          <a:xfrm>
            <a:off x="2101410" y="4207107"/>
            <a:ext cx="3159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/>
              <a:t>图</a:t>
            </a:r>
            <a:r>
              <a:rPr lang="en-US" altLang="zh-CN"/>
              <a:t>1-4-3  </a:t>
            </a:r>
            <a:r>
              <a:rPr lang="zh-CN" altLang="zh-CN"/>
              <a:t>异步通信字符帧格式</a:t>
            </a:r>
            <a:endParaRPr lang="zh-CN" altLang="zh-CN"/>
          </a:p>
        </p:txBody>
      </p:sp>
      <p:sp>
        <p:nvSpPr>
          <p:cNvPr id="7" name="矩形 6"/>
          <p:cNvSpPr/>
          <p:nvPr/>
        </p:nvSpPr>
        <p:spPr>
          <a:xfrm>
            <a:off x="725079" y="4844295"/>
            <a:ext cx="106603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/>
              <a:t>数据位可</a:t>
            </a:r>
            <a:r>
              <a:rPr lang="en-US" altLang="zh-CN" sz="2000"/>
              <a:t>5~8</a:t>
            </a:r>
            <a:r>
              <a:rPr lang="zh-CN" altLang="zh-CN" sz="2000"/>
              <a:t>位。奇偶校验位可选，用于供双方按约定对数据进行正确性检查，可设定为奇校验、偶校验、无校验等。停止位为保持时间为</a:t>
            </a:r>
            <a:r>
              <a:rPr lang="en-US" altLang="zh-CN" sz="2000"/>
              <a:t>1</a:t>
            </a:r>
            <a:r>
              <a:rPr lang="zh-CN" altLang="zh-CN" sz="2000"/>
              <a:t>、</a:t>
            </a:r>
            <a:r>
              <a:rPr lang="en-US" altLang="zh-CN" sz="2000"/>
              <a:t>1.5</a:t>
            </a:r>
            <a:r>
              <a:rPr lang="zh-CN" altLang="zh-CN" sz="2000"/>
              <a:t>或</a:t>
            </a:r>
            <a:r>
              <a:rPr lang="en-US" altLang="zh-CN" sz="2000"/>
              <a:t>2</a:t>
            </a:r>
            <a:r>
              <a:rPr lang="zh-CN" altLang="zh-CN" sz="2000"/>
              <a:t>位的逻辑</a:t>
            </a:r>
            <a:r>
              <a:rPr lang="en-US" altLang="zh-CN" sz="2000"/>
              <a:t>0</a:t>
            </a:r>
            <a:r>
              <a:rPr lang="zh-CN" altLang="zh-CN" sz="2000"/>
              <a:t>低电平信号，信号长度由双方约定，接收端接收到该位时即知一帧字符已经传送完毕。空闲位在停止位后，线路处于逻辑</a:t>
            </a:r>
            <a:r>
              <a:rPr lang="en-US" altLang="zh-CN" sz="2000"/>
              <a:t>1</a:t>
            </a:r>
            <a:r>
              <a:rPr lang="zh-CN" altLang="zh-CN" sz="2000"/>
              <a:t>高电平，表示线路处于空闲状态，位数可变，用于填充帧间的空隙。</a:t>
            </a:r>
            <a:endParaRPr lang="zh-CN" altLang="zh-CN" sz="2000"/>
          </a:p>
        </p:txBody>
      </p:sp>
      <p:sp>
        <p:nvSpPr>
          <p:cNvPr id="9" name="矩形 8"/>
          <p:cNvSpPr/>
          <p:nvPr/>
        </p:nvSpPr>
        <p:spPr>
          <a:xfrm>
            <a:off x="7655170" y="2030292"/>
            <a:ext cx="373025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/>
              <a:t>异步通信帧包括起始位、数据位、奇偶校验位（可选）和停止位（高电平）组成。起始位用于标志帧传送的开始，接收端检测到传输线上发送过来的字符帧起始位（逻辑</a:t>
            </a:r>
            <a:r>
              <a:rPr lang="en-US" altLang="zh-CN" sz="2000"/>
              <a:t>0</a:t>
            </a:r>
            <a:r>
              <a:rPr lang="zh-CN" altLang="zh-CN" sz="2000"/>
              <a:t>低电平）时，确定发送端已开始发送数据。</a:t>
            </a:r>
            <a:endParaRPr lang="zh-C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43149" y="866261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/>
              <a:t>(1) 并行通信与串行通信</a:t>
            </a:r>
            <a:endParaRPr lang="zh-CN" altLang="en-US" sz="2800" b="1"/>
          </a:p>
        </p:txBody>
      </p:sp>
      <p:sp>
        <p:nvSpPr>
          <p:cNvPr id="2" name="矩形 1"/>
          <p:cNvSpPr/>
          <p:nvPr/>
        </p:nvSpPr>
        <p:spPr>
          <a:xfrm>
            <a:off x="1252792" y="1830237"/>
            <a:ext cx="2162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/>
              <a:t>②异步</a:t>
            </a:r>
            <a:r>
              <a:rPr lang="en-US" altLang="zh-CN" sz="2000"/>
              <a:t>UART</a:t>
            </a:r>
            <a:r>
              <a:rPr lang="zh-CN" altLang="en-US" sz="2000"/>
              <a:t>模式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498977" y="2523125"/>
            <a:ext cx="943882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/>
              <a:t>异步串行通信一次传送一个帧。发送端发完一帧后，可经过任意长的时间间隔再发送下一帧；接收端通过传输线逐帧接收。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发送端和接收端可以按各自的时钟来控制数据的发送和接收，双方时钟源相互独立，互不同步。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异步通信简单，可允许双方时钟有一定误差，但异步通信效率较低，只适用于点对点传输。</a:t>
            </a:r>
            <a:endParaRPr lang="zh-CN" altLang="zh-CN" sz="2400"/>
          </a:p>
        </p:txBody>
      </p:sp>
      <p:pic>
        <p:nvPicPr>
          <p:cNvPr id="10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7" y="2523125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7" y="3626484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8" y="4822644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95565" y="278811"/>
            <a:ext cx="4200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(2) CC2530</a:t>
            </a:r>
            <a:r>
              <a:rPr lang="zh-CN" altLang="en-US" sz="2800" b="1" dirty="0"/>
              <a:t>串行通信接口</a:t>
            </a:r>
            <a:endParaRPr lang="zh-CN" altLang="en-US" sz="28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73" y="802031"/>
            <a:ext cx="8691236" cy="19100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54852" y="2712069"/>
            <a:ext cx="33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1-4-1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串口与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端口对应关系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14773" y="4424753"/>
            <a:ext cx="37243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RX表示接收，TX表示发送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通过</a:t>
            </a:r>
            <a:r>
              <a:rPr lang="zh-CN" altLang="en-US" sz="2000" b="1" dirty="0"/>
              <a:t>PERCFG[1:0]</a:t>
            </a:r>
            <a:r>
              <a:rPr lang="zh-CN" altLang="en-US" sz="2000" dirty="0"/>
              <a:t>可</a:t>
            </a:r>
            <a:r>
              <a:rPr lang="zh-CN" altLang="en-US" sz="2000" b="1" dirty="0"/>
              <a:t>设置接口USART1、USART0与外部I/O引脚按Alt1、Alt2两种位置关系对应</a:t>
            </a:r>
            <a:r>
              <a:rPr lang="zh-CN" altLang="en-US" sz="2000" dirty="0"/>
              <a:t>，0为默认Alt1，1为Alt2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328" y="2972751"/>
            <a:ext cx="5079886" cy="3606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1"/>
          <p:cNvSpPr txBox="1"/>
          <p:nvPr/>
        </p:nvSpPr>
        <p:spPr>
          <a:xfrm>
            <a:off x="1577490" y="5325309"/>
            <a:ext cx="2547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CC2530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与外设间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的串行通信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文本框1"/>
          <p:cNvSpPr txBox="1"/>
          <p:nvPr/>
        </p:nvSpPr>
        <p:spPr>
          <a:xfrm>
            <a:off x="4313283" y="1666098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 b="1">
                <a:solidFill>
                  <a:srgbClr val="2A7AED"/>
                </a:solidFill>
              </a:rPr>
              <a:t>CC2530</a:t>
            </a:r>
            <a:r>
              <a:rPr lang="zh-CN" altLang="en-US" sz="2400" b="1">
                <a:solidFill>
                  <a:srgbClr val="2A7AED"/>
                </a:solidFill>
              </a:rPr>
              <a:t>与上位机的连接与信号转换</a:t>
            </a:r>
            <a:endParaRPr lang="zh-CN" altLang="zh-CN" sz="2400" b="1">
              <a:solidFill>
                <a:srgbClr val="2A7AED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38011" y="2247637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538842" y="3216234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06683" y="3052087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349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197297" y="443603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知识储备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8013912" y="5210026"/>
            <a:ext cx="3163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CC2530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串口相关寄存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器及串行通信配置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586022" y="2111170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501078" y="3158172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70149" y="878983"/>
            <a:ext cx="83013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800" b="1" dirty="0"/>
              <a:t> CH340G串口芯片</a:t>
            </a:r>
            <a:r>
              <a:rPr lang="zh-CN" altLang="en-US" sz="2800" b="1" dirty="0"/>
              <a:t>及上位机与</a:t>
            </a:r>
            <a:r>
              <a:rPr lang="en-US" altLang="zh-CN" sz="2800" b="1" dirty="0"/>
              <a:t>CC2530</a:t>
            </a:r>
            <a:r>
              <a:rPr lang="zh-CN" altLang="en-US" sz="2800" b="1" dirty="0"/>
              <a:t>间的信号转换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1653047" y="3927339"/>
            <a:ext cx="2418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/>
              <a:t>图</a:t>
            </a:r>
            <a:r>
              <a:rPr lang="en-US" altLang="zh-CN"/>
              <a:t>1-4-5  CH340G</a:t>
            </a:r>
            <a:r>
              <a:rPr lang="zh-CN" altLang="zh-CN"/>
              <a:t>芯片</a:t>
            </a:r>
            <a:endParaRPr lang="zh-CN" altLang="zh-CN"/>
          </a:p>
        </p:txBody>
      </p:sp>
      <p:sp>
        <p:nvSpPr>
          <p:cNvPr id="6" name="矩形 5"/>
          <p:cNvSpPr/>
          <p:nvPr/>
        </p:nvSpPr>
        <p:spPr>
          <a:xfrm>
            <a:off x="537739" y="4753466"/>
            <a:ext cx="496243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ym typeface="+mn-ea"/>
              </a:rPr>
              <a:t>C</a:t>
            </a:r>
            <a:r>
              <a:rPr lang="zh-CN" altLang="en-US" dirty="0"/>
              <a:t>H340G是一种USB转串口芯片，其内部集成了USB2.0接口协议和串口通信协议，能够自动处理USB与串口之间的数据转换和协议转换。CH340G还可以作为单片机下载器使用，将程序下载到单片机中，实现单片机的烧录和更新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6227806" y="5583337"/>
            <a:ext cx="551637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CH340G芯片的性能表现优异，支持多种协议（如RS232、RS485、RS422、I2C、SPI等），可以实现远程控制和数据采集。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22996" y="1516708"/>
            <a:ext cx="49624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CC2530</a:t>
            </a:r>
            <a:r>
              <a:rPr lang="zh-CN" altLang="en-US"/>
              <a:t>的USART口采用的是</a:t>
            </a:r>
            <a:r>
              <a:rPr lang="zh-CN" altLang="en-US" b="1"/>
              <a:t>TTL电平</a:t>
            </a:r>
            <a:r>
              <a:rPr lang="zh-CN" altLang="en-US"/>
              <a:t>，经该接口与PC机通信时</a:t>
            </a:r>
            <a:r>
              <a:rPr lang="zh-CN" altLang="en-US" b="1"/>
              <a:t>必须进行输入/输出电平转换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040" y="2552065"/>
            <a:ext cx="2364740" cy="1435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765" y="1623695"/>
            <a:ext cx="4714875" cy="3609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1"/>
          <p:cNvSpPr txBox="1"/>
          <p:nvPr/>
        </p:nvSpPr>
        <p:spPr>
          <a:xfrm>
            <a:off x="1577490" y="5325309"/>
            <a:ext cx="25474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CC2530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与外设间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的串行通信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文本框1"/>
          <p:cNvSpPr txBox="1"/>
          <p:nvPr/>
        </p:nvSpPr>
        <p:spPr>
          <a:xfrm>
            <a:off x="4313283" y="1666098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/>
              <a:t>CC2530</a:t>
            </a:r>
            <a:r>
              <a:rPr lang="zh-CN" altLang="en-US" sz="2400"/>
              <a:t>与上位机的连接与信号转换</a:t>
            </a:r>
            <a:endParaRPr lang="zh-CN" altLang="zh-CN" sz="2400"/>
          </a:p>
        </p:txBody>
      </p:sp>
      <p:grpSp>
        <p:nvGrpSpPr>
          <p:cNvPr id="2" name="组合 1"/>
          <p:cNvGrpSpPr/>
          <p:nvPr/>
        </p:nvGrpSpPr>
        <p:grpSpPr>
          <a:xfrm>
            <a:off x="1738011" y="2247637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06683" y="3052087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197297" y="443603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知识储备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8013912" y="5210026"/>
            <a:ext cx="3163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 b="1">
                <a:solidFill>
                  <a:srgbClr val="2A7AED"/>
                </a:solidFill>
              </a:rPr>
              <a:t>CC2530</a:t>
            </a:r>
            <a:r>
              <a:rPr lang="zh-CN" altLang="en-US" sz="2400" b="1">
                <a:solidFill>
                  <a:srgbClr val="2A7AED"/>
                </a:solidFill>
              </a:rPr>
              <a:t>串口相关寄存</a:t>
            </a:r>
            <a:endParaRPr lang="en-US" altLang="zh-CN" sz="2400" b="1">
              <a:solidFill>
                <a:srgbClr val="2A7AED"/>
              </a:solidFill>
            </a:endParaRPr>
          </a:p>
          <a:p>
            <a:pPr lvl="0" algn="ctr"/>
            <a:r>
              <a:rPr lang="zh-CN" altLang="en-US" sz="2400" b="1">
                <a:solidFill>
                  <a:srgbClr val="2A7AED"/>
                </a:solidFill>
              </a:rPr>
              <a:t>器及串行通信配置</a:t>
            </a:r>
            <a:endParaRPr lang="zh-CN" altLang="zh-CN" sz="2400" b="1">
              <a:solidFill>
                <a:srgbClr val="2A7AED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586022" y="2111170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38A1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636717" y="596031"/>
            <a:ext cx="785163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en-US" altLang="zh-CN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3.CC2530</a:t>
            </a:r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串口相关寄存器及串行通信配置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717" y="135069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(1) CC2530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串口相关寄存器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5276" y="2043794"/>
            <a:ext cx="58212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波特率控制寄存器 </a:t>
            </a:r>
            <a:r>
              <a:rPr lang="en-US" altLang="zh-CN" sz="2400"/>
              <a:t>UxBAUD</a:t>
            </a:r>
            <a:r>
              <a:rPr lang="zh-CN" altLang="en-US" sz="2400"/>
              <a:t>、</a:t>
            </a:r>
            <a:endParaRPr lang="en-US" altLang="zh-CN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控制和状态寄存器</a:t>
            </a:r>
            <a:r>
              <a:rPr lang="en-US" altLang="zh-CN" sz="2400"/>
              <a:t>UxCSR</a:t>
            </a:r>
            <a:r>
              <a:rPr lang="zh-CN" altLang="en-US" sz="2400"/>
              <a:t>、</a:t>
            </a:r>
            <a:endParaRPr lang="en-US" altLang="zh-CN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UART</a:t>
            </a:r>
            <a:r>
              <a:rPr lang="zh-CN" altLang="en-US" sz="2400"/>
              <a:t>控制寄存器</a:t>
            </a:r>
            <a:r>
              <a:rPr lang="en-US" altLang="zh-CN" sz="2400"/>
              <a:t>UxUCR</a:t>
            </a:r>
            <a:r>
              <a:rPr lang="zh-CN" altLang="en-US" sz="2400"/>
              <a:t>、</a:t>
            </a:r>
            <a:endParaRPr lang="en-US" altLang="zh-CN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通用控制寄存器</a:t>
            </a:r>
            <a:r>
              <a:rPr lang="en-US" altLang="zh-CN" sz="2400"/>
              <a:t>UxGCR</a:t>
            </a:r>
            <a:r>
              <a:rPr lang="zh-CN" altLang="en-US" sz="2400"/>
              <a:t>、</a:t>
            </a:r>
            <a:endParaRPr lang="en-US" altLang="zh-CN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/>
              <a:t>接收</a:t>
            </a:r>
            <a:r>
              <a:rPr lang="en-US" altLang="zh-CN" sz="2400"/>
              <a:t>/</a:t>
            </a:r>
            <a:r>
              <a:rPr lang="zh-CN" altLang="en-US" sz="2400"/>
              <a:t>发送数据缓冲寄存器</a:t>
            </a:r>
            <a:r>
              <a:rPr lang="en-US" altLang="zh-CN" sz="2400"/>
              <a:t>UxDBUF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9133" y="92865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(1) CC2530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串口相关寄存器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49" y="1873910"/>
            <a:ext cx="8823564" cy="38438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515" y="1163222"/>
            <a:ext cx="6475123" cy="549404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40002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(1) CC2530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串口相关寄存器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96040" y="87590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(1) CC2530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串口相关寄存器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699" y="1873910"/>
            <a:ext cx="8129193" cy="44389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6378" y="84073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(2) 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串行通信控制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04222" y="2116885"/>
            <a:ext cx="1816100" cy="1816100"/>
            <a:chOff x="5870" y="3230"/>
            <a:chExt cx="2860" cy="2860"/>
          </a:xfrm>
        </p:grpSpPr>
        <p:sp>
          <p:nvSpPr>
            <p:cNvPr id="6" name="椭圆 5"/>
            <p:cNvSpPr/>
            <p:nvPr/>
          </p:nvSpPr>
          <p:spPr>
            <a:xfrm>
              <a:off x="6040" y="3399"/>
              <a:ext cx="2520" cy="2520"/>
            </a:xfrm>
            <a:prstGeom prst="ellipse">
              <a:avLst/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870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占位符 2"/>
            <p:cNvSpPr txBox="1"/>
            <p:nvPr/>
          </p:nvSpPr>
          <p:spPr>
            <a:xfrm>
              <a:off x="6930" y="4152"/>
              <a:ext cx="740" cy="101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zh-CN" altLang="en-US" sz="1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椭圆 8"/>
          <p:cNvSpPr/>
          <p:nvPr/>
        </p:nvSpPr>
        <p:spPr>
          <a:xfrm>
            <a:off x="4227673" y="2265680"/>
            <a:ext cx="1600200" cy="1600200"/>
          </a:xfrm>
          <a:prstGeom prst="ellipse">
            <a:avLst/>
          </a:prstGeom>
          <a:solidFill>
            <a:srgbClr val="DE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119723" y="2157730"/>
            <a:ext cx="1816100" cy="18161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849836" y="2116885"/>
            <a:ext cx="1816100" cy="1816100"/>
            <a:chOff x="15033" y="3230"/>
            <a:chExt cx="2860" cy="2860"/>
          </a:xfrm>
        </p:grpSpPr>
        <p:sp>
          <p:nvSpPr>
            <p:cNvPr id="12" name="椭圆 11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76948" y="27438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3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00761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881303" y="430255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通信波特率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计算及设置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3589070" y="4274127"/>
            <a:ext cx="2420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的初始化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6320908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端口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完成数据发送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580049" y="2116885"/>
            <a:ext cx="1816100" cy="1816100"/>
            <a:chOff x="15033" y="3230"/>
            <a:chExt cx="2860" cy="2860"/>
          </a:xfrm>
        </p:grpSpPr>
        <p:sp>
          <p:nvSpPr>
            <p:cNvPr id="20" name="椭圆 19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0230974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1"/>
          <p:cNvSpPr txBox="1"/>
          <p:nvPr/>
        </p:nvSpPr>
        <p:spPr>
          <a:xfrm>
            <a:off x="9051121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数据接收中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断服务函数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714937" y="638712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①通信波特率计算及设置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0333" y="1223487"/>
            <a:ext cx="99027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CC2530</a:t>
            </a:r>
            <a:r>
              <a:rPr lang="zh-CN" altLang="en-US" sz="2400"/>
              <a:t>系统时钟采用高速晶振，</a:t>
            </a:r>
            <a:r>
              <a:rPr lang="zh-CN" altLang="en-US" sz="2400" b="1"/>
              <a:t>串口运行</a:t>
            </a:r>
            <a:r>
              <a:rPr lang="zh-CN" altLang="en-US" sz="2400"/>
              <a:t>在</a:t>
            </a:r>
            <a:r>
              <a:rPr lang="en-US" altLang="zh-CN" sz="2400" b="1"/>
              <a:t>UART</a:t>
            </a:r>
            <a:r>
              <a:rPr lang="zh-CN" altLang="en-US" sz="2400" b="1"/>
              <a:t>模式时</a:t>
            </a:r>
            <a:r>
              <a:rPr lang="zh-CN" altLang="en-US" sz="2400"/>
              <a:t>，</a:t>
            </a:r>
            <a:r>
              <a:rPr lang="zh-CN" altLang="en-US" sz="2400" b="1"/>
              <a:t>用内部的波特率发生器设置</a:t>
            </a:r>
            <a:r>
              <a:rPr lang="en-US" altLang="zh-CN" sz="2400" b="1"/>
              <a:t>UART</a:t>
            </a:r>
            <a:r>
              <a:rPr lang="zh-CN" altLang="en-US" sz="2400" b="1"/>
              <a:t>波特率</a:t>
            </a:r>
            <a:r>
              <a:rPr lang="zh-CN" altLang="en-US" sz="2400"/>
              <a:t>。</a:t>
            </a:r>
            <a:r>
              <a:rPr lang="zh-CN" altLang="en-US" sz="2400" b="1"/>
              <a:t>波特率由</a:t>
            </a:r>
            <a:r>
              <a:rPr lang="en-US" altLang="zh-CN" sz="2400" b="1"/>
              <a:t>U1GCR </a:t>
            </a:r>
            <a:r>
              <a:rPr lang="zh-CN" altLang="en-US" sz="2400" b="1"/>
              <a:t>寄存器中的</a:t>
            </a:r>
            <a:r>
              <a:rPr lang="en-US" altLang="zh-CN" sz="2400" b="1"/>
              <a:t>BAUD_E</a:t>
            </a:r>
            <a:r>
              <a:rPr lang="zh-CN" altLang="en-US" sz="2400" b="1"/>
              <a:t>和</a:t>
            </a:r>
            <a:r>
              <a:rPr lang="en-US" altLang="zh-CN" sz="2400" b="1"/>
              <a:t>U1BAUD</a:t>
            </a:r>
            <a:r>
              <a:rPr lang="zh-CN" altLang="en-US" sz="2400" b="1"/>
              <a:t>寄存器的</a:t>
            </a:r>
            <a:r>
              <a:rPr lang="en-US" altLang="zh-CN" sz="2400" b="1"/>
              <a:t>BAUD_M</a:t>
            </a:r>
            <a:r>
              <a:rPr lang="zh-CN" altLang="en-US" sz="2400" b="1"/>
              <a:t>两个部分</a:t>
            </a:r>
            <a:r>
              <a:rPr lang="zh-CN" altLang="en-US" sz="2400"/>
              <a:t>共同决定。波特率计算公式如下：</a:t>
            </a:r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77" y="2783470"/>
            <a:ext cx="5753176" cy="10391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06252" y="4353076"/>
            <a:ext cx="91084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/>
              <a:t>其中， F为</a:t>
            </a:r>
            <a:r>
              <a:rPr lang="zh-CN" altLang="en-US" sz="2400" b="1"/>
              <a:t>单片机的系统时钟频率</a:t>
            </a:r>
            <a:r>
              <a:rPr lang="zh-CN" altLang="en-US" sz="2400"/>
              <a:t>，可取16MHz RCOSC或32MHz晶振两者之一，其选择在</a:t>
            </a:r>
            <a:r>
              <a:rPr lang="zh-CN" altLang="en-US" sz="2400" b="1"/>
              <a:t>CLKCONCMD寄存器中设置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714937" y="638712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①通信波特率计算及设置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298" y="1452954"/>
            <a:ext cx="6699583" cy="427083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60908" y="5953258"/>
            <a:ext cx="4506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1-4-4  32MHz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系统时钟常用的波特率设置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6378" y="84073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(2) 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串行通信控制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04222" y="2116885"/>
            <a:ext cx="1816100" cy="1816100"/>
            <a:chOff x="5870" y="3230"/>
            <a:chExt cx="2860" cy="2860"/>
          </a:xfrm>
        </p:grpSpPr>
        <p:sp>
          <p:nvSpPr>
            <p:cNvPr id="6" name="椭圆 5"/>
            <p:cNvSpPr/>
            <p:nvPr/>
          </p:nvSpPr>
          <p:spPr>
            <a:xfrm>
              <a:off x="6040" y="3399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870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占位符 2"/>
            <p:cNvSpPr txBox="1"/>
            <p:nvPr/>
          </p:nvSpPr>
          <p:spPr>
            <a:xfrm>
              <a:off x="6930" y="4152"/>
              <a:ext cx="740" cy="101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zh-CN" altLang="en-US" sz="1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椭圆 8"/>
          <p:cNvSpPr/>
          <p:nvPr/>
        </p:nvSpPr>
        <p:spPr>
          <a:xfrm>
            <a:off x="4227673" y="2265680"/>
            <a:ext cx="1600200" cy="1600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119723" y="2157730"/>
            <a:ext cx="1816100" cy="18161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849836" y="2116885"/>
            <a:ext cx="1816100" cy="1816100"/>
            <a:chOff x="15033" y="3230"/>
            <a:chExt cx="2860" cy="2860"/>
          </a:xfrm>
        </p:grpSpPr>
        <p:sp>
          <p:nvSpPr>
            <p:cNvPr id="12" name="椭圆 11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76948" y="27438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00761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881303" y="430255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通信波特率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计算及设置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3589070" y="4274127"/>
            <a:ext cx="2420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</a:rPr>
              <a:t>UART0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的初始化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6320908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端口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完成数据发送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580049" y="2116885"/>
            <a:ext cx="1816100" cy="1816100"/>
            <a:chOff x="15033" y="3230"/>
            <a:chExt cx="2860" cy="2860"/>
          </a:xfrm>
        </p:grpSpPr>
        <p:sp>
          <p:nvSpPr>
            <p:cNvPr id="20" name="椭圆 19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0230974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1"/>
          <p:cNvSpPr txBox="1"/>
          <p:nvPr/>
        </p:nvSpPr>
        <p:spPr>
          <a:xfrm>
            <a:off x="9051121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数据接收中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断服务函数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714937" y="638712"/>
            <a:ext cx="364292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en-US" altLang="zh-CN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②UART0</a:t>
            </a:r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的初始化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7" y="1381748"/>
            <a:ext cx="7109055" cy="498014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矩形 4"/>
          <p:cNvSpPr/>
          <p:nvPr/>
        </p:nvSpPr>
        <p:spPr>
          <a:xfrm>
            <a:off x="9126415" y="1547336"/>
            <a:ext cx="28172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解读初始化流程；</a:t>
            </a:r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识记指令；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8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850" y="1547336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990" y="3291617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6378" y="84073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(2) 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串行通信控制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04222" y="2116885"/>
            <a:ext cx="1816100" cy="1816100"/>
            <a:chOff x="5870" y="3230"/>
            <a:chExt cx="2860" cy="2860"/>
          </a:xfrm>
        </p:grpSpPr>
        <p:sp>
          <p:nvSpPr>
            <p:cNvPr id="6" name="椭圆 5"/>
            <p:cNvSpPr/>
            <p:nvPr/>
          </p:nvSpPr>
          <p:spPr>
            <a:xfrm>
              <a:off x="6040" y="3399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870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占位符 2"/>
            <p:cNvSpPr txBox="1"/>
            <p:nvPr/>
          </p:nvSpPr>
          <p:spPr>
            <a:xfrm>
              <a:off x="6930" y="4152"/>
              <a:ext cx="740" cy="101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zh-CN" altLang="en-US" sz="1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椭圆 8"/>
          <p:cNvSpPr/>
          <p:nvPr/>
        </p:nvSpPr>
        <p:spPr>
          <a:xfrm>
            <a:off x="4227673" y="2265680"/>
            <a:ext cx="1600200" cy="1600200"/>
          </a:xfrm>
          <a:prstGeom prst="ellipse">
            <a:avLst/>
          </a:prstGeom>
          <a:solidFill>
            <a:srgbClr val="DE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119723" y="2157730"/>
            <a:ext cx="1816100" cy="18161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849836" y="2116885"/>
            <a:ext cx="1816100" cy="1816100"/>
            <a:chOff x="15033" y="3230"/>
            <a:chExt cx="2860" cy="2860"/>
          </a:xfrm>
        </p:grpSpPr>
        <p:sp>
          <p:nvSpPr>
            <p:cNvPr id="12" name="椭圆 11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2A7A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76948" y="27438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3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00761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881303" y="430255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通信波特率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计算及设置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3589070" y="4274127"/>
            <a:ext cx="2420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的初始化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6320908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 b="1">
                <a:solidFill>
                  <a:srgbClr val="0064D2"/>
                </a:solidFill>
              </a:rPr>
              <a:t>UART0</a:t>
            </a:r>
            <a:r>
              <a:rPr lang="zh-CN" altLang="en-US" sz="2400" b="1">
                <a:solidFill>
                  <a:srgbClr val="0064D2"/>
                </a:solidFill>
              </a:rPr>
              <a:t>端口</a:t>
            </a:r>
            <a:endParaRPr lang="en-US" altLang="zh-CN" sz="2400" b="1">
              <a:solidFill>
                <a:srgbClr val="0064D2"/>
              </a:solidFill>
            </a:endParaRPr>
          </a:p>
          <a:p>
            <a:pPr lvl="0" algn="ctr"/>
            <a:r>
              <a:rPr lang="zh-CN" altLang="en-US" sz="2400" b="1">
                <a:solidFill>
                  <a:srgbClr val="0064D2"/>
                </a:solidFill>
              </a:rPr>
              <a:t>完成数据发送</a:t>
            </a:r>
            <a:endParaRPr lang="zh-CN" altLang="zh-CN" sz="2400" b="1">
              <a:solidFill>
                <a:srgbClr val="0064D2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580049" y="2116885"/>
            <a:ext cx="1816100" cy="1816100"/>
            <a:chOff x="15033" y="3230"/>
            <a:chExt cx="2860" cy="2860"/>
          </a:xfrm>
        </p:grpSpPr>
        <p:sp>
          <p:nvSpPr>
            <p:cNvPr id="20" name="椭圆 19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0230974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1"/>
          <p:cNvSpPr txBox="1"/>
          <p:nvPr/>
        </p:nvSpPr>
        <p:spPr>
          <a:xfrm>
            <a:off x="9051121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数据接收中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断服务函数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503921" y="638711"/>
            <a:ext cx="540622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en-US" altLang="zh-CN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UART0</a:t>
            </a:r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端口完成数据发送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1646" y="1378673"/>
            <a:ext cx="28172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字节发送</a:t>
            </a:r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662" y="1936725"/>
            <a:ext cx="9288966" cy="238050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矩形 2"/>
          <p:cNvSpPr/>
          <p:nvPr/>
        </p:nvSpPr>
        <p:spPr>
          <a:xfrm>
            <a:off x="1012614" y="4756846"/>
            <a:ext cx="979506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 kern="100" dirty="0">
                <a:latin typeface="+mj-ea"/>
                <a:ea typeface="+mj-ea"/>
              </a:rPr>
              <a:t>先将数据装填到寄存器</a:t>
            </a:r>
            <a:r>
              <a:rPr lang="en-US" altLang="zh-CN" sz="2000" kern="100" dirty="0">
                <a:latin typeface="+mj-ea"/>
                <a:ea typeface="+mj-ea"/>
              </a:rPr>
              <a:t>U0DBUF</a:t>
            </a:r>
            <a:r>
              <a:rPr lang="zh-CN" altLang="zh-CN" sz="2000" kern="100" dirty="0">
                <a:latin typeface="+mj-ea"/>
                <a:ea typeface="+mj-ea"/>
              </a:rPr>
              <a:t>中。当</a:t>
            </a:r>
            <a:r>
              <a:rPr lang="en-US" altLang="zh-CN" sz="2000" kern="100" dirty="0">
                <a:latin typeface="+mj-ea"/>
                <a:ea typeface="+mj-ea"/>
              </a:rPr>
              <a:t>8</a:t>
            </a:r>
            <a:r>
              <a:rPr lang="zh-CN" altLang="zh-CN" sz="2000" kern="100" dirty="0">
                <a:latin typeface="+mj-ea"/>
                <a:ea typeface="+mj-ea"/>
              </a:rPr>
              <a:t>位的发送</a:t>
            </a:r>
            <a:r>
              <a:rPr lang="en-US" altLang="zh-CN" sz="2000" kern="100" dirty="0">
                <a:latin typeface="+mj-ea"/>
                <a:ea typeface="+mj-ea"/>
              </a:rPr>
              <a:t>/</a:t>
            </a:r>
            <a:r>
              <a:rPr lang="zh-CN" altLang="zh-CN" sz="2000" kern="100" dirty="0">
                <a:latin typeface="+mj-ea"/>
                <a:ea typeface="+mj-ea"/>
              </a:rPr>
              <a:t>接收数据缓冲寄存器</a:t>
            </a:r>
            <a:r>
              <a:rPr lang="en-US" altLang="zh-CN" sz="2000" kern="100" dirty="0" err="1">
                <a:latin typeface="+mj-ea"/>
                <a:ea typeface="+mj-ea"/>
              </a:rPr>
              <a:t>UxDBUF</a:t>
            </a:r>
            <a:r>
              <a:rPr lang="zh-CN" altLang="zh-CN" sz="2000" kern="100" dirty="0">
                <a:latin typeface="+mj-ea"/>
                <a:ea typeface="+mj-ea"/>
              </a:rPr>
              <a:t>被写入数据后，自动送至</a:t>
            </a:r>
            <a:r>
              <a:rPr lang="en-US" altLang="zh-CN" sz="2000" kern="100" dirty="0" err="1">
                <a:latin typeface="+mj-ea"/>
                <a:ea typeface="+mj-ea"/>
              </a:rPr>
              <a:t>TXDx</a:t>
            </a:r>
            <a:r>
              <a:rPr lang="zh-CN" altLang="zh-CN" sz="2000" kern="100" dirty="0">
                <a:latin typeface="+mj-ea"/>
                <a:ea typeface="+mj-ea"/>
              </a:rPr>
              <a:t>引脚，开始逐位串行数据传输。</a:t>
            </a:r>
            <a:endParaRPr lang="en-US" altLang="zh-CN" sz="2000" kern="100" dirty="0">
              <a:latin typeface="+mj-ea"/>
              <a:ea typeface="+mj-ea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 err="1">
                <a:latin typeface="+mj-ea"/>
                <a:ea typeface="+mj-ea"/>
              </a:rPr>
              <a:t>UxDBUF</a:t>
            </a:r>
            <a:r>
              <a:rPr lang="zh-CN" altLang="zh-CN" sz="2000" kern="100" dirty="0">
                <a:latin typeface="+mj-ea"/>
                <a:ea typeface="+mj-ea"/>
              </a:rPr>
              <a:t>为双缓冲寄存器，数据发送启动后立即触发</a:t>
            </a:r>
            <a:r>
              <a:rPr lang="en-US" altLang="zh-CN" sz="2000" kern="100" dirty="0">
                <a:latin typeface="+mj-ea"/>
                <a:ea typeface="+mj-ea"/>
              </a:rPr>
              <a:t>TX</a:t>
            </a:r>
            <a:r>
              <a:rPr lang="zh-CN" altLang="zh-CN" sz="2000" kern="100" dirty="0">
                <a:latin typeface="+mj-ea"/>
                <a:ea typeface="+mj-ea"/>
              </a:rPr>
              <a:t>、设置中断标志</a:t>
            </a:r>
            <a:r>
              <a:rPr lang="en-US" altLang="zh-CN" sz="2000" kern="100" dirty="0">
                <a:latin typeface="+mj-ea"/>
                <a:ea typeface="+mj-ea"/>
              </a:rPr>
              <a:t>UTX0IF</a:t>
            </a:r>
            <a:r>
              <a:rPr lang="zh-CN" altLang="zh-CN" sz="2000" kern="100" dirty="0">
                <a:latin typeface="+mj-ea"/>
                <a:ea typeface="+mj-ea"/>
              </a:rPr>
              <a:t>且卸载数据缓冲器，使当前字节发送的同时新的字节能够装入数据缓冲器</a:t>
            </a:r>
            <a:r>
              <a:rPr lang="en-US" altLang="zh-CN" sz="2000" kern="100" dirty="0" err="1">
                <a:latin typeface="+mj-ea"/>
                <a:ea typeface="+mj-ea"/>
              </a:rPr>
              <a:t>UxDBUF</a:t>
            </a:r>
            <a:r>
              <a:rPr lang="zh-CN" altLang="zh-CN" sz="2000" kern="100" dirty="0">
                <a:latin typeface="+mj-ea"/>
                <a:ea typeface="+mj-ea"/>
              </a:rPr>
              <a:t>，支持数据的连续串行传输。</a:t>
            </a:r>
            <a:endParaRPr lang="zh-CN" altLang="zh-CN" sz="2000" kern="100" dirty="0"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503921" y="638711"/>
            <a:ext cx="540622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en-US" altLang="zh-CN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UART0</a:t>
            </a:r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端口完成数据发送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61644" y="1223486"/>
            <a:ext cx="28172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字符串发送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87" y="1808261"/>
            <a:ext cx="6556851" cy="3862699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6378" y="84073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en-US" altLang="zh-CN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(2) </a:t>
            </a:r>
            <a:r>
              <a:rPr lang="zh-CN" altLang="en-US" sz="2800" b="1" kern="10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</a:rPr>
              <a:t>串行通信控制</a:t>
            </a:r>
            <a:endParaRPr lang="zh-CN" altLang="zh-CN" sz="2800" b="1" kern="100">
              <a:solidFill>
                <a:schemeClr val="tx2">
                  <a:lumMod val="75000"/>
                  <a:lumOff val="25000"/>
                </a:schemeClr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04222" y="2116885"/>
            <a:ext cx="1816100" cy="1816100"/>
            <a:chOff x="5870" y="3230"/>
            <a:chExt cx="2860" cy="2860"/>
          </a:xfrm>
        </p:grpSpPr>
        <p:sp>
          <p:nvSpPr>
            <p:cNvPr id="6" name="椭圆 5"/>
            <p:cNvSpPr/>
            <p:nvPr/>
          </p:nvSpPr>
          <p:spPr>
            <a:xfrm>
              <a:off x="6040" y="3399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870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占位符 2"/>
            <p:cNvSpPr txBox="1"/>
            <p:nvPr/>
          </p:nvSpPr>
          <p:spPr>
            <a:xfrm>
              <a:off x="6930" y="4152"/>
              <a:ext cx="740" cy="101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zh-CN" altLang="en-US" sz="1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椭圆 8"/>
          <p:cNvSpPr/>
          <p:nvPr/>
        </p:nvSpPr>
        <p:spPr>
          <a:xfrm>
            <a:off x="4227673" y="2265680"/>
            <a:ext cx="1600200" cy="1600200"/>
          </a:xfrm>
          <a:prstGeom prst="ellipse">
            <a:avLst/>
          </a:prstGeom>
          <a:solidFill>
            <a:srgbClr val="DE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119723" y="2157730"/>
            <a:ext cx="1816100" cy="18161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849836" y="2116885"/>
            <a:ext cx="1816100" cy="1816100"/>
            <a:chOff x="15033" y="3230"/>
            <a:chExt cx="2860" cy="2860"/>
          </a:xfrm>
        </p:grpSpPr>
        <p:sp>
          <p:nvSpPr>
            <p:cNvPr id="12" name="椭圆 11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DE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76948" y="27438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3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00761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36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881303" y="430255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通信波特率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计算及设置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3589070" y="4274127"/>
            <a:ext cx="2420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的初始化</a:t>
            </a: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6320908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端口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完成数据发送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580049" y="2116885"/>
            <a:ext cx="1816100" cy="1816100"/>
            <a:chOff x="15033" y="3230"/>
            <a:chExt cx="2860" cy="2860"/>
          </a:xfrm>
        </p:grpSpPr>
        <p:sp>
          <p:nvSpPr>
            <p:cNvPr id="20" name="椭圆 19"/>
            <p:cNvSpPr/>
            <p:nvPr/>
          </p:nvSpPr>
          <p:spPr>
            <a:xfrm>
              <a:off x="15203" y="3400"/>
              <a:ext cx="2520" cy="2520"/>
            </a:xfrm>
            <a:prstGeom prst="ellipse">
              <a:avLst/>
            </a:prstGeom>
            <a:solidFill>
              <a:srgbClr val="2A7A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5033" y="3230"/>
              <a:ext cx="2860" cy="286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0230974" y="270172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1"/>
          <p:cNvSpPr txBox="1"/>
          <p:nvPr/>
        </p:nvSpPr>
        <p:spPr>
          <a:xfrm>
            <a:off x="9051121" y="4274127"/>
            <a:ext cx="316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rgbClr val="0064D2"/>
                </a:solidFill>
              </a:rPr>
              <a:t>数据接收中</a:t>
            </a:r>
            <a:endParaRPr lang="en-US" altLang="zh-CN" sz="2400" b="1">
              <a:solidFill>
                <a:srgbClr val="0064D2"/>
              </a:solidFill>
            </a:endParaRPr>
          </a:p>
          <a:p>
            <a:pPr lvl="0" algn="ctr"/>
            <a:r>
              <a:rPr lang="zh-CN" altLang="en-US" sz="2400" b="1">
                <a:solidFill>
                  <a:srgbClr val="0064D2"/>
                </a:solidFill>
              </a:rPr>
              <a:t>断服务函数</a:t>
            </a:r>
            <a:endParaRPr lang="zh-CN" altLang="zh-CN" sz="2400" b="1">
              <a:solidFill>
                <a:srgbClr val="0064D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503921" y="638711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④数据接收中断服务函数</a:t>
            </a:r>
            <a:endParaRPr lang="zh-CN" altLang="zh-CN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2351" y="1821363"/>
            <a:ext cx="41640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系统响应中断请求时，中断服务函数中先手工清除接收中断标志位URX0IF，再将数据从缓冲寄存器UxDBUF中转存到字节型变量temp，最后将变量RX_Flag置1，告知主函数数据接收操作已完成。</a:t>
            </a:r>
            <a:endParaRPr lang="zh-CN" altLang="en-US" sz="2000"/>
          </a:p>
        </p:txBody>
      </p:sp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52" y="1095895"/>
            <a:ext cx="4480656" cy="534007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/>
        </p:nvSpPr>
        <p:spPr>
          <a:xfrm>
            <a:off x="2718051" y="551731"/>
            <a:ext cx="6755899" cy="5340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sz="3200" b="1">
                <a:solidFill>
                  <a:schemeClr val="tx1"/>
                </a:solidFill>
              </a:rPr>
              <a:t>检测与提升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48888" y="1653663"/>
            <a:ext cx="92942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>
                <a:solidFill>
                  <a:srgbClr val="C0504D"/>
                </a:solidFill>
                <a:latin typeface="+mn-ea"/>
              </a:rPr>
              <a:t>测一测</a:t>
            </a:r>
            <a:r>
              <a:rPr lang="zh-CN" altLang="zh-CN" sz="2400" kern="100">
                <a:solidFill>
                  <a:srgbClr val="0C0C0C"/>
                </a:solidFill>
                <a:latin typeface="+mn-ea"/>
              </a:rPr>
              <a:t> </a:t>
            </a:r>
            <a:endParaRPr lang="zh-CN" altLang="zh-CN" sz="2400" kern="100">
              <a:latin typeface="+mn-ea"/>
            </a:endParaRPr>
          </a:p>
          <a:p>
            <a:r>
              <a:rPr lang="zh-CN" altLang="en-US" sz="2400"/>
              <a:t>详细描述</a:t>
            </a:r>
            <a:r>
              <a:rPr lang="en-US" altLang="zh-CN" sz="2400"/>
              <a:t>CC2530</a:t>
            </a:r>
            <a:r>
              <a:rPr lang="zh-CN" altLang="en-US" sz="2400"/>
              <a:t>的</a:t>
            </a:r>
            <a:r>
              <a:rPr lang="en-US" altLang="zh-CN" sz="2400"/>
              <a:t>UART</a:t>
            </a:r>
            <a:r>
              <a:rPr lang="zh-CN" altLang="en-US" sz="2400"/>
              <a:t>端口进行异步串行通信的初始化过程。</a:t>
            </a:r>
            <a:endParaRPr lang="en-US" altLang="zh-CN" sz="2400"/>
          </a:p>
          <a:p>
            <a:endParaRPr lang="en-US" altLang="zh-CN" sz="2400" b="1" kern="100">
              <a:solidFill>
                <a:srgbClr val="C0504D"/>
              </a:solidFill>
              <a:latin typeface="+mn-ea"/>
              <a:cs typeface="Times New Roman" panose="02020603050405020304" pitchFamily="18" charset="0"/>
            </a:endParaRPr>
          </a:p>
          <a:p>
            <a:endParaRPr lang="en-US" altLang="zh-CN" sz="2800" b="1" kern="100">
              <a:solidFill>
                <a:srgbClr val="C0504D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800" b="1" kern="100">
                <a:solidFill>
                  <a:srgbClr val="C0504D"/>
                </a:solidFill>
                <a:latin typeface="+mn-ea"/>
                <a:cs typeface="Times New Roman" panose="02020603050405020304" pitchFamily="18" charset="0"/>
              </a:rPr>
              <a:t>想一想</a:t>
            </a:r>
            <a:endParaRPr lang="zh-CN" altLang="zh-CN" sz="2800" b="1" kern="100">
              <a:solidFill>
                <a:srgbClr val="C0504D"/>
              </a:solidFill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/>
              <a:t>CC2530</a:t>
            </a:r>
            <a:r>
              <a:rPr lang="zh-CN" altLang="en-US" sz="2400"/>
              <a:t>串口相关寄存器各自包含哪些内容？结合串口数据收发过程，总结其用法。</a:t>
            </a:r>
            <a:endParaRPr lang="zh-CN" altLang="zh-CN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1"/>
          <p:cNvSpPr txBox="1"/>
          <p:nvPr/>
        </p:nvSpPr>
        <p:spPr>
          <a:xfrm>
            <a:off x="1183600" y="1790801"/>
            <a:ext cx="100529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本任务采用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ZigBee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模块模拟交通灯系统，并通过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CC2530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的串口与上位机建立通信。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系统启动后立刻向上机发送信息“智能交通灯系统开启并进入正常状态”，然后进入按上位机下达指令模式切换状态。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交通灯模块收到上位机下达的指令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【r】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时，切换至正常指挥功能，并向上位机发送信息“切换为限行状态”；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收到指令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【f】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时切换至限行功能，并向上位机报备并向上位机发送信息“切换为正常状态”。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996236" y="409847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任务规划与设计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1"/>
          <p:cNvSpPr txBox="1"/>
          <p:nvPr/>
        </p:nvSpPr>
        <p:spPr>
          <a:xfrm>
            <a:off x="620893" y="5413232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系统搭建及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</a:endParaRPr>
          </a:p>
          <a:p>
            <a:pPr lvl="0" algn="ctr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串行通信连接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8" name="文本框1"/>
          <p:cNvSpPr txBox="1"/>
          <p:nvPr/>
        </p:nvSpPr>
        <p:spPr>
          <a:xfrm>
            <a:off x="2890286" y="1504563"/>
            <a:ext cx="327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串口通信的初始化</a:t>
            </a:r>
            <a:endParaRPr lang="zh-CN" altLang="zh-CN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81414" y="2335560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38A1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501078" y="3158172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83686" y="2890552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996236" y="409847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任务规划与设计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5857771" y="5297891"/>
            <a:ext cx="365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的数据发送与接收</a:t>
            </a:r>
            <a:endParaRPr lang="zh-CN" altLang="zh-CN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429881" y="2199035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7" name="文本框1"/>
          <p:cNvSpPr txBox="1"/>
          <p:nvPr/>
        </p:nvSpPr>
        <p:spPr>
          <a:xfrm>
            <a:off x="8666743" y="1504563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/>
              <a:t> 指令控制应用主函数设计</a:t>
            </a:r>
            <a:endParaRPr lang="zh-CN" altLang="zh-CN" sz="2400"/>
          </a:p>
        </p:txBody>
      </p:sp>
      <p:grpSp>
        <p:nvGrpSpPr>
          <p:cNvPr id="48" name="组合 47"/>
          <p:cNvGrpSpPr/>
          <p:nvPr/>
        </p:nvGrpSpPr>
        <p:grpSpPr>
          <a:xfrm>
            <a:off x="9360143" y="2890552"/>
            <a:ext cx="2087245" cy="2598420"/>
            <a:chOff x="5172710" y="2717800"/>
            <a:chExt cx="2087245" cy="2598420"/>
          </a:xfrm>
        </p:grpSpPr>
        <p:sp>
          <p:nvSpPr>
            <p:cNvPr id="49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79230" y="801642"/>
            <a:ext cx="10515600" cy="775742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1.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系统搭建及串行通信连接</a:t>
            </a:r>
            <a:endParaRPr lang="zh-CN" altLang="en-US"/>
          </a:p>
        </p:txBody>
      </p:sp>
      <p:pic>
        <p:nvPicPr>
          <p:cNvPr id="14" name="Picture 2" descr="https://timgsa.baidu.com/timg?image&amp;quality=80&amp;size=b9999_10000&amp;sec=1605431302730&amp;di=4f4bbd6fb31f8c938d6e499a9df60c91&amp;imgtype=0&amp;src=http%3A%2F%2Fpic.51yuansu.com%2Fpic3%2Fcover%2F02%2F96%2F96%2F5ad083de7f19e_610.jpg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97" y="5216319"/>
            <a:ext cx="619285" cy="56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454056" y="5515646"/>
            <a:ext cx="936673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ym typeface="+mn-ea"/>
              </a:rPr>
              <a:t>C</a:t>
            </a:r>
            <a:r>
              <a:rPr lang="zh-CN" altLang="en-US" sz="2400" dirty="0">
                <a:sym typeface="+mn-ea"/>
              </a:rPr>
              <a:t>H340G是一种USB转串口芯片，其内部集成了USB2.0接口协议和串口通信协议，能够自动处理USB与串口之间的数据转换和协议转换。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-2013" t="18291" r="28019" b="2169"/>
          <a:stretch>
            <a:fillRect/>
          </a:stretch>
        </p:blipFill>
        <p:spPr>
          <a:xfrm>
            <a:off x="3148965" y="1499235"/>
            <a:ext cx="4438650" cy="35769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1414" y="2335560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501078" y="3158172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83686" y="2890552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996236" y="409847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任务规划与设计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429881" y="2199035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7" name="文本框1"/>
          <p:cNvSpPr txBox="1"/>
          <p:nvPr/>
        </p:nvSpPr>
        <p:spPr>
          <a:xfrm>
            <a:off x="8666743" y="1504563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/>
              <a:t> 指令控制应用主函数设计</a:t>
            </a:r>
            <a:endParaRPr lang="zh-CN" altLang="zh-CN" sz="2400"/>
          </a:p>
        </p:txBody>
      </p:sp>
      <p:grpSp>
        <p:nvGrpSpPr>
          <p:cNvPr id="48" name="组合 47"/>
          <p:cNvGrpSpPr/>
          <p:nvPr/>
        </p:nvGrpSpPr>
        <p:grpSpPr>
          <a:xfrm>
            <a:off x="9360143" y="2890552"/>
            <a:ext cx="2087245" cy="2598420"/>
            <a:chOff x="5172710" y="2717800"/>
            <a:chExt cx="2087245" cy="2598420"/>
          </a:xfrm>
        </p:grpSpPr>
        <p:sp>
          <p:nvSpPr>
            <p:cNvPr id="49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4" name="文本框1"/>
          <p:cNvSpPr txBox="1"/>
          <p:nvPr/>
        </p:nvSpPr>
        <p:spPr>
          <a:xfrm>
            <a:off x="722178" y="539205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系统搭建及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串行通信连接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文本框1"/>
          <p:cNvSpPr txBox="1"/>
          <p:nvPr/>
        </p:nvSpPr>
        <p:spPr>
          <a:xfrm>
            <a:off x="2997717" y="1699485"/>
            <a:ext cx="327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串口通信的初始化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文本框1"/>
          <p:cNvSpPr txBox="1"/>
          <p:nvPr/>
        </p:nvSpPr>
        <p:spPr>
          <a:xfrm>
            <a:off x="5634695" y="5281421"/>
            <a:ext cx="365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的数据发送与接收</a:t>
            </a:r>
            <a:endParaRPr lang="zh-CN" altLang="zh-CN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30987" y="667321"/>
            <a:ext cx="10515600" cy="1325563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串口通信的初始化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76690" y="1330102"/>
            <a:ext cx="10738402" cy="445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步骤1 设置系统时钟采用32MHz晶振，即需CLKCONCMD &amp;=~0x7F。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步骤2  UART0引脚需选用位置Alt1，并设置I/O模式及优先使用情况，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即需PERCFG&amp;=~0xFF，P0SEL|=0x3C，P2DIR &amp;= ~0xC0。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步骤3  设置通信波特率为19200bps，即需BAUD_E=9，BAUD_M=59。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步骤4  指定帧格式、清除缓冲器、禁止流控，配置为字符收发方式，即U0CSR|=0x80;    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步骤5  设置通信为</a:t>
            </a:r>
            <a:r>
              <a:rPr lang="en-US" altLang="zh-CN" sz="2400" dirty="0"/>
              <a:t>UR</a:t>
            </a:r>
            <a:r>
              <a:rPr lang="zh-CN" altLang="en-US" sz="2400" dirty="0"/>
              <a:t>rt 模式，则U0GCR|=0x80；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步骤6  清除UART0、RX接收中断标志，使能总中断和UART0中断。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30987" y="667321"/>
            <a:ext cx="10515600" cy="1325563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串口通信的初始化</a:t>
            </a:r>
            <a:endParaRPr lang="zh-CN" altLang="en-US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975" y="1206987"/>
            <a:ext cx="8413377" cy="533204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1414" y="2335560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519978" y="3158172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83686" y="2890552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996236" y="409847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任务规划与设计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429881" y="2199035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38A1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501078" y="3183574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7" name="文本框1"/>
          <p:cNvSpPr txBox="1"/>
          <p:nvPr/>
        </p:nvSpPr>
        <p:spPr>
          <a:xfrm>
            <a:off x="8666743" y="1504563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/>
              <a:t> 指令控制应用主函数设计</a:t>
            </a:r>
            <a:endParaRPr lang="zh-CN" altLang="zh-CN" sz="2400"/>
          </a:p>
        </p:txBody>
      </p:sp>
      <p:grpSp>
        <p:nvGrpSpPr>
          <p:cNvPr id="48" name="组合 47"/>
          <p:cNvGrpSpPr/>
          <p:nvPr/>
        </p:nvGrpSpPr>
        <p:grpSpPr>
          <a:xfrm>
            <a:off x="9360143" y="2890552"/>
            <a:ext cx="2087245" cy="2598420"/>
            <a:chOff x="5172710" y="2717800"/>
            <a:chExt cx="2087245" cy="2598420"/>
          </a:xfrm>
        </p:grpSpPr>
        <p:sp>
          <p:nvSpPr>
            <p:cNvPr id="49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9" name="文本框1"/>
          <p:cNvSpPr txBox="1"/>
          <p:nvPr/>
        </p:nvSpPr>
        <p:spPr>
          <a:xfrm>
            <a:off x="722178" y="539205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系统搭建及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串行通信连接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文本框1"/>
          <p:cNvSpPr txBox="1"/>
          <p:nvPr/>
        </p:nvSpPr>
        <p:spPr>
          <a:xfrm>
            <a:off x="2997717" y="1699485"/>
            <a:ext cx="327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串口通信的初始化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文本框1"/>
          <p:cNvSpPr txBox="1"/>
          <p:nvPr/>
        </p:nvSpPr>
        <p:spPr>
          <a:xfrm>
            <a:off x="5634695" y="5281421"/>
            <a:ext cx="365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</a:rPr>
              <a:t>UART0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的数据发送与接收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30987" y="667321"/>
            <a:ext cx="10515600" cy="1325563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3. UART0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的数据发送与接收</a:t>
            </a:r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0986" y="1524733"/>
            <a:ext cx="3165168" cy="3416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836618" y="5429357"/>
            <a:ext cx="3953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1-4-8  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主函数中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UART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收发操作流程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09" y="1330102"/>
            <a:ext cx="5438742" cy="512345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30987" y="667321"/>
            <a:ext cx="10515600" cy="1325563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3. UART0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的数据发送与接收</a:t>
            </a:r>
            <a:endParaRPr lang="zh-CN" altLang="en-US"/>
          </a:p>
        </p:txBody>
      </p:sp>
      <p:pic>
        <p:nvPicPr>
          <p:cNvPr id="12" name="图片 11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0987" y="1330102"/>
            <a:ext cx="3042138" cy="37476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1598508" y="5214211"/>
            <a:ext cx="3030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1-4-8  UART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收发操作流程</a:t>
            </a:r>
            <a:endParaRPr lang="zh-CN" altLang="zh-CN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105" y="1819737"/>
            <a:ext cx="5842208" cy="343113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1414" y="2335560"/>
            <a:ext cx="2087245" cy="2570480"/>
            <a:chOff x="1896241" y="2009457"/>
            <a:chExt cx="2087245" cy="2570480"/>
          </a:xfrm>
        </p:grpSpPr>
        <p:grpSp>
          <p:nvGrpSpPr>
            <p:cNvPr id="7" name="组合 6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12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501078" y="3160693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83686" y="2890552"/>
            <a:ext cx="2087245" cy="2598420"/>
            <a:chOff x="5172710" y="2717800"/>
            <a:chExt cx="2087245" cy="2598420"/>
          </a:xfrm>
        </p:grpSpPr>
        <p:sp>
          <p:nvSpPr>
            <p:cNvPr id="13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996236" y="409847"/>
            <a:ext cx="9979660" cy="67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任务规划与设计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429881" y="2199035"/>
            <a:ext cx="2087245" cy="2570480"/>
            <a:chOff x="1896241" y="2009457"/>
            <a:chExt cx="2087245" cy="2570480"/>
          </a:xfrm>
        </p:grpSpPr>
        <p:grpSp>
          <p:nvGrpSpPr>
            <p:cNvPr id="22" name="组合 21"/>
            <p:cNvGrpSpPr/>
            <p:nvPr/>
          </p:nvGrpSpPr>
          <p:grpSpPr>
            <a:xfrm>
              <a:off x="1896241" y="2009457"/>
              <a:ext cx="2087245" cy="2570480"/>
              <a:chOff x="4536" y="3212"/>
              <a:chExt cx="3287" cy="4048"/>
            </a:xfrm>
          </p:grpSpPr>
          <p:sp>
            <p:nvSpPr>
              <p:cNvPr id="24" name="圆角矩形 34"/>
              <p:cNvSpPr/>
              <p:nvPr/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圆角矩形 38"/>
              <p:cNvSpPr/>
              <p:nvPr/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57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任意多边形 42"/>
              <p:cNvSpPr/>
              <p:nvPr/>
            </p:nvSpPr>
            <p:spPr>
              <a:xfrm>
                <a:off x="4767" y="3212"/>
                <a:ext cx="3056" cy="1809"/>
              </a:xfrm>
              <a:custGeom>
                <a:avLst/>
                <a:gdLst>
                  <a:gd name="connsiteX0" fmla="*/ 0 w 1940313"/>
                  <a:gd name="connsiteY0" fmla="*/ 791737 h 1148576"/>
                  <a:gd name="connsiteX1" fmla="*/ 791737 w 1940313"/>
                  <a:gd name="connsiteY1" fmla="*/ 0 h 1148576"/>
                  <a:gd name="connsiteX2" fmla="*/ 1940313 w 1940313"/>
                  <a:gd name="connsiteY2" fmla="*/ 1148576 h 1148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0313" h="1148576">
                    <a:moveTo>
                      <a:pt x="0" y="791737"/>
                    </a:moveTo>
                    <a:lnTo>
                      <a:pt x="791737" y="0"/>
                    </a:lnTo>
                    <a:lnTo>
                      <a:pt x="1940313" y="1148576"/>
                    </a:lnTo>
                  </a:path>
                </a:pathLst>
              </a:custGeom>
              <a:noFill/>
              <a:ln w="12700">
                <a:solidFill>
                  <a:srgbClr val="8A8B8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613660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7" name="文本框1"/>
          <p:cNvSpPr txBox="1"/>
          <p:nvPr/>
        </p:nvSpPr>
        <p:spPr>
          <a:xfrm>
            <a:off x="8666743" y="1504563"/>
            <a:ext cx="327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</a:rPr>
              <a:t> 指令控制应用主函数设计</a:t>
            </a:r>
            <a:endParaRPr lang="zh-CN" altLang="zh-CN"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9360143" y="2890552"/>
            <a:ext cx="2087245" cy="2598420"/>
            <a:chOff x="5172710" y="2717800"/>
            <a:chExt cx="2087245" cy="2598420"/>
          </a:xfrm>
        </p:grpSpPr>
        <p:sp>
          <p:nvSpPr>
            <p:cNvPr id="49" name="圆角矩形 35"/>
            <p:cNvSpPr/>
            <p:nvPr/>
          </p:nvSpPr>
          <p:spPr>
            <a:xfrm rot="2700000">
              <a:off x="5172710" y="2717800"/>
              <a:ext cx="1892300" cy="189230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39"/>
            <p:cNvSpPr/>
            <p:nvPr/>
          </p:nvSpPr>
          <p:spPr>
            <a:xfrm rot="2700000">
              <a:off x="5402580" y="2970530"/>
              <a:ext cx="1387475" cy="1387475"/>
            </a:xfrm>
            <a:prstGeom prst="roundRect">
              <a:avLst>
                <a:gd name="adj" fmla="val 6319"/>
              </a:avLst>
            </a:prstGeom>
            <a:solidFill>
              <a:srgbClr val="349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任意多边形 44"/>
            <p:cNvSpPr/>
            <p:nvPr/>
          </p:nvSpPr>
          <p:spPr>
            <a:xfrm flipV="1">
              <a:off x="5319395" y="4167505"/>
              <a:ext cx="1940560" cy="1148715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755005" y="3200400"/>
              <a:ext cx="68262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6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9" name="文本框1"/>
          <p:cNvSpPr txBox="1"/>
          <p:nvPr/>
        </p:nvSpPr>
        <p:spPr>
          <a:xfrm>
            <a:off x="722178" y="539205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系统搭建及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串行通信连接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文本框1"/>
          <p:cNvSpPr txBox="1"/>
          <p:nvPr/>
        </p:nvSpPr>
        <p:spPr>
          <a:xfrm>
            <a:off x="2997717" y="1699485"/>
            <a:ext cx="327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串口通信的初始化</a:t>
            </a:r>
            <a:endParaRPr lang="zh-CN" altLang="zh-CN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文本框1"/>
          <p:cNvSpPr txBox="1"/>
          <p:nvPr/>
        </p:nvSpPr>
        <p:spPr>
          <a:xfrm>
            <a:off x="5634695" y="5281421"/>
            <a:ext cx="365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2400">
                <a:solidFill>
                  <a:schemeClr val="tx1">
                    <a:lumMod val="95000"/>
                    <a:lumOff val="5000"/>
                  </a:schemeClr>
                </a:solidFill>
              </a:rPr>
              <a:t>UART0</a:t>
            </a:r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t>的数据发送与接收</a:t>
            </a:r>
            <a:endParaRPr lang="zh-CN" altLang="zh-CN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30987" y="667321"/>
            <a:ext cx="10515600" cy="1325563"/>
          </a:xfrm>
        </p:spPr>
        <p:txBody>
          <a:bodyPr/>
          <a:lstStyle/>
          <a:p>
            <a:pPr lvl="0"/>
            <a:r>
              <a:rPr lang="en-US" altLang="zh-CN" sz="280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指令控制应用主函数设计</a:t>
            </a:r>
            <a:endParaRPr lang="zh-CN" altLang="en-US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1" y="1562454"/>
            <a:ext cx="5512223" cy="432299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184" y="1421837"/>
            <a:ext cx="5496153" cy="4604233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99796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60938" y="1082000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设备与资源准备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" t="2402" r="762" b="16141"/>
          <a:stretch>
            <a:fillRect/>
          </a:stretch>
        </p:blipFill>
        <p:spPr>
          <a:xfrm>
            <a:off x="1816735" y="1815465"/>
            <a:ext cx="8058150" cy="25412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28281" y="1449420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实施流程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68" r="-11333"/>
          <a:stretch>
            <a:fillRect/>
          </a:stretch>
        </p:blipFill>
        <p:spPr>
          <a:xfrm>
            <a:off x="-260532" y="2383933"/>
            <a:ext cx="1216231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椭圆 7"/>
          <p:cNvSpPr/>
          <p:nvPr/>
        </p:nvSpPr>
        <p:spPr>
          <a:xfrm>
            <a:off x="920509" y="2383933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1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4925087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278913" y="2383932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596373" y="2389316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63685" y="2582979"/>
            <a:ext cx="85674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/>
              <a:t>工作区、项目创建、工程选项配置操作方法详见项目一任务一的任务实施部分。</a:t>
            </a:r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1062781" y="907912"/>
            <a:ext cx="41344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/>
              <a:t>1.工程的创建、修改工程配置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28281" y="1449420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实施流程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68" r="-11333"/>
          <a:stretch>
            <a:fillRect/>
          </a:stretch>
        </p:blipFill>
        <p:spPr>
          <a:xfrm>
            <a:off x="-260532" y="2383933"/>
            <a:ext cx="1216231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椭圆 7"/>
          <p:cNvSpPr/>
          <p:nvPr/>
        </p:nvSpPr>
        <p:spPr>
          <a:xfrm>
            <a:off x="4949087" y="2383933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1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4925087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7088" y="1703669"/>
            <a:ext cx="46379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参考给出的变量定义、延时函数、</a:t>
            </a:r>
            <a:r>
              <a:rPr lang="en-US" altLang="zh-CN" sz="2400"/>
              <a:t>I/O</a:t>
            </a:r>
            <a:r>
              <a:rPr lang="zh-CN" altLang="en-US" sz="2400"/>
              <a:t>端口初始函数和前面的串口通信初始化、数据收发、主程序模块，整理出完整的上位机下发指令控制交通灯模式切换控制程序。</a:t>
            </a:r>
            <a:endParaRPr lang="zh-CN" altLang="zh-CN" sz="2400"/>
          </a:p>
        </p:txBody>
      </p:sp>
      <p:sp>
        <p:nvSpPr>
          <p:cNvPr id="3" name="矩形 2"/>
          <p:cNvSpPr/>
          <p:nvPr/>
        </p:nvSpPr>
        <p:spPr>
          <a:xfrm>
            <a:off x="885360" y="784293"/>
            <a:ext cx="3603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/>
              <a:t>2. </a:t>
            </a:r>
            <a:r>
              <a:rPr lang="zh-CN" altLang="en-US" sz="2400" b="1"/>
              <a:t>编写、分析、调试程序</a:t>
            </a:r>
            <a:endParaRPr lang="zh-CN" altLang="en-US" sz="2400" b="1"/>
          </a:p>
        </p:txBody>
      </p:sp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46" y="1245958"/>
            <a:ext cx="6565049" cy="508450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318161" y="438773"/>
            <a:ext cx="99796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5000"/>
              </a:lnSpc>
            </a:pPr>
            <a:r>
              <a:rPr lang="zh-CN" alt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任务四 串口控制交通灯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8281" y="1449420"/>
            <a:ext cx="3057247" cy="65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5000"/>
              </a:lnSpc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实施流程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68" r="-11333"/>
          <a:stretch>
            <a:fillRect/>
          </a:stretch>
        </p:blipFill>
        <p:spPr>
          <a:xfrm>
            <a:off x="-260532" y="2383933"/>
            <a:ext cx="1216231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椭圆 7"/>
          <p:cNvSpPr/>
          <p:nvPr/>
        </p:nvSpPr>
        <p:spPr>
          <a:xfrm>
            <a:off x="9013370" y="2383932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654470" y="2383931"/>
            <a:ext cx="1743075" cy="174307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623162" y="895985"/>
            <a:ext cx="3847528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en-US" altLang="zh-CN" sz="2800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</a:t>
            </a:r>
            <a:r>
              <a:rPr lang="zh-CN" altLang="en-US" sz="2800" b="1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程序编译与下载调试</a:t>
            </a:r>
            <a:endParaRPr lang="zh-CN" altLang="zh-CN" sz="2800" b="1" dirty="0">
              <a:solidFill>
                <a:srgbClr val="0064D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59622" y="2421303"/>
            <a:ext cx="111577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/>
              <a:t>编译无错后，下载程序到</a:t>
            </a:r>
            <a:r>
              <a:rPr lang="en-US" altLang="zh-CN" sz="2800"/>
              <a:t>ZigBee</a:t>
            </a:r>
            <a:r>
              <a:rPr lang="zh-CN" altLang="zh-CN" sz="2800"/>
              <a:t>模块，方法参考任务一。</a:t>
            </a:r>
            <a:endParaRPr lang="zh-CN" altLang="zh-CN" sz="2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/>
        </p:nvSpPr>
        <p:spPr>
          <a:xfrm>
            <a:off x="-1728053" y="734400"/>
            <a:ext cx="6755899" cy="5340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</a:rPr>
              <a:t>延伸阅读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61437" y="810794"/>
            <a:ext cx="6340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/>
              <a:t>智慧交通</a:t>
            </a:r>
            <a:r>
              <a:rPr lang="en-US" altLang="zh-CN" sz="3200"/>
              <a:t>——</a:t>
            </a:r>
            <a:r>
              <a:rPr lang="zh-CN" altLang="zh-CN" sz="3200"/>
              <a:t>红绿灯远程联网控制</a:t>
            </a:r>
            <a:endParaRPr lang="zh-CN" altLang="zh-CN" sz="3200"/>
          </a:p>
        </p:txBody>
      </p:sp>
      <p:sp>
        <p:nvSpPr>
          <p:cNvPr id="16" name="矩形 15"/>
          <p:cNvSpPr/>
          <p:nvPr/>
        </p:nvSpPr>
        <p:spPr>
          <a:xfrm>
            <a:off x="5253175" y="5738503"/>
            <a:ext cx="3057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/>
              <a:t>图</a:t>
            </a:r>
            <a:r>
              <a:rPr lang="en-US" altLang="zh-CN"/>
              <a:t>1-4-10  </a:t>
            </a:r>
            <a:r>
              <a:rPr lang="zh-CN" altLang="zh-CN"/>
              <a:t>智慧交通控制系统</a:t>
            </a:r>
            <a:endParaRPr lang="zh-CN" altLang="zh-CN"/>
          </a:p>
        </p:txBody>
      </p:sp>
      <p:pic>
        <p:nvPicPr>
          <p:cNvPr id="17" name="图片 16" descr="1-4-10v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4"/>
          <a:stretch>
            <a:fillRect/>
          </a:stretch>
        </p:blipFill>
        <p:spPr>
          <a:xfrm>
            <a:off x="3736657" y="1759350"/>
            <a:ext cx="5389758" cy="372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/>
        </p:nvSpPr>
        <p:spPr>
          <a:xfrm>
            <a:off x="-1266962" y="773310"/>
            <a:ext cx="6755899" cy="5340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sz="3200" b="1">
                <a:solidFill>
                  <a:schemeClr val="tx1"/>
                </a:solidFill>
              </a:rPr>
              <a:t>任务拓展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94946" y="1577991"/>
            <a:ext cx="9692640" cy="1308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/>
              <a:t>编程实现串口调试助手给</a:t>
            </a:r>
            <a:r>
              <a:rPr lang="en-US" altLang="zh-CN" sz="2800" dirty="0"/>
              <a:t>ZigBee</a:t>
            </a:r>
            <a:r>
              <a:rPr lang="zh-CN" altLang="zh-CN" sz="2800" dirty="0"/>
              <a:t>模块发字符串时，</a:t>
            </a:r>
            <a:r>
              <a:rPr lang="en-US" altLang="zh-CN" sz="2800" dirty="0"/>
              <a:t>ZigBee</a:t>
            </a:r>
            <a:r>
              <a:rPr lang="zh-CN" altLang="zh-CN" sz="2800" dirty="0"/>
              <a:t>模块会返回接收到的字符串。</a:t>
            </a:r>
            <a:endParaRPr lang="zh-CN" altLang="zh-CN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commondata" val="eyJoZGlkIjoiY2Q0MjYyYmFlNWZlMTE5MzhiMTU0MjgxNzYwNDU4MWUifQ==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4278</Words>
  <Application>WPS 演示</Application>
  <PresentationFormat>宽屏</PresentationFormat>
  <Paragraphs>438</Paragraphs>
  <Slides>48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Times New Roman</vt:lpstr>
      <vt:lpstr>Arial Unicode MS</vt:lpstr>
      <vt:lpstr>Calibri</vt:lpstr>
      <vt:lpstr>Segoe Print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1.系统搭建及串行通信连接</vt:lpstr>
      <vt:lpstr>PowerPoint 演示文稿</vt:lpstr>
      <vt:lpstr>2.串口通信的初始化</vt:lpstr>
      <vt:lpstr>2.串口通信的初始化</vt:lpstr>
      <vt:lpstr>PowerPoint 演示文稿</vt:lpstr>
      <vt:lpstr>3. UART0的数据发送与接收</vt:lpstr>
      <vt:lpstr>3. UART0的数据发送与接收</vt:lpstr>
      <vt:lpstr>PowerPoint 演示文稿</vt:lpstr>
      <vt:lpstr>4. 指令控制应用主函数设计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李游</cp:lastModifiedBy>
  <cp:revision>316</cp:revision>
  <dcterms:created xsi:type="dcterms:W3CDTF">2019-06-19T02:08:00Z</dcterms:created>
  <dcterms:modified xsi:type="dcterms:W3CDTF">2025-10-08T08:30:21Z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6525C1A5220040C68736395A93B7CAA9_12</vt:lpwstr>
  </property>
</Properties>
</file>